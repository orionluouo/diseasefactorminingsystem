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9" r:id="rId7"/>
    <p:sldId id="261" r:id="rId8"/>
    <p:sldId id="263" r:id="rId9"/>
    <p:sldId id="265" r:id="rId10"/>
    <p:sldId id="268" r:id="rId11"/>
    <p:sldId id="269" r:id="rId12"/>
    <p:sldId id="273" r:id="rId13"/>
    <p:sldId id="274" r:id="rId14"/>
    <p:sldId id="275" r:id="rId15"/>
    <p:sldId id="276" r:id="rId16"/>
    <p:sldId id="280" r:id="rId17"/>
    <p:sldId id="281" r:id="rId18"/>
    <p:sldId id="282" r:id="rId19"/>
    <p:sldId id="283" r:id="rId20"/>
    <p:sldId id="284" r:id="rId21"/>
    <p:sldId id="286" r:id="rId22"/>
    <p:sldId id="287" r:id="rId23"/>
    <p:sldId id="288" r:id="rId24"/>
    <p:sldId id="271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7" userDrawn="1">
          <p15:clr>
            <a:srgbClr val="747775"/>
          </p15:clr>
        </p15:guide>
        <p15:guide id="2" pos="292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7"/>
        <p:guide pos="29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老师、同学，大家好。今天我们大数据二班第十组将向大家汇报我们的项目——“基于关联规则的疾病相关因素挖掘与分析系统”。在接下来的时间里，我们将详细介绍这个系统的背景、技术实现、核心功能以及未来的展望。希望通过这次汇报，能让大家对我们的工作有一个全面的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四个部分。首先，我们会介绍项目的研究背景和意义，阐述为何要做这件事。其次，我们会详细说明我们选用的数据集和采用的技术方案。接着，将展示我们系统的整体架构和核心功能模块。最后，对项目进行总结，并介绍我们团队的分工情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正处在一个医疗数据爆炸的时代。电子病历、体检报告、可穿戴设备等每天都在产生海量数据。然而，这些宝贵的数据大多处于“沉睡”状态，其背后隐藏的疾病关联规律尚未被充分发掘。如何利用技术手段唤醒这些数据的价值，是我们项目致力于解决的核心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研究具有重要的现实意义。首先，它能为临床医生提供决策支持，帮助他们更快地识别高危患者。其次，它可以用于疾病风险预测，为普通人提供个性化的健康建议。最后，通过分析治疗方案的效果，还能为优化医疗资源配置提供数据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选择了美国国家健康与营养检查调查，也就是NHANES数据集。这是一个由美国CDC发布的权威、公开的数据库。它的优势在于数据质量高、维度丰富，涵盖了生活习惯、体检、实验室检测等多个方面，并且样本量巨大，非常适合我们进行深度的关联分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我们项目的核心算法是FP-Growth。相比于传统的Apriori算法，它效率更高，特别适合处理像医疗数据这样的大规模数据集。右边是我们使用Spark MLlib进行模型训练的概念代码，可以看到整个过程非常简洁，通过几行代码就能启动对海量数据的关联规则挖掘。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主要包含三大核心功能。首先是多维数据仪表盘，它能让用户对整个数据集有一个宏观的认识。其次是疾病相关因素挖掘功能，用户可以输入关心的疾病，系统会找出相关的风险因素。最后是共病模式分析，它能揭示不同疾病之间的共存关系，这对于理解复杂疾病非常有帮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项目的顺利完成离不开团队每一位成员的努力。在这里，我代表小组介绍一下我们的分工。我作为组长，主要负责项目的整体设计和数据处理部分。翟磊同学负责模型训练。白润峰同学负责后端开发。唐挥武同学负责前端页面的实现。我们四人分工明确，紧密协作，共同完成了这个项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现在，我们进入第一部分：项目背景与研究意义。在这一章，我们将探讨在当前医疗大数据时代背景下，我们面临的机遇与挑战，以及本项目研究的核心价值所在。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各位老师、同学，大家好。我是赵朴钰。在我们的“基于关联规则的疾病相关因素挖掘与分析系统”项目中，我主要负责数据采集与处理模块。接下来，我将向大家汇报我在这部分工作的具体内容。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我的汇报将分为四个部分。首先，我会介绍我们为什么选择NHANES作为数据源。其次，将讲解我们自动化爬取数据的具体策略。接着，是关于如何筛选和处理原始数据。最后，介绍数据标准化的过程。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初期，选择合适的数据源是关键。经过调研，我们发现大多数医疗数据要么维度单一，要么零散破碎。而NHANES项目数据维度高、规模大且真实完整，完美契合我们的需求。为了高效获取这些分散在多个页面的文件，我编写了爬虫脚本，通过Requests和BeautifulSoup模拟浏览器行为，自动完成了从页面分析到文件下载的全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我们的项目进行总结与展望。我们成功构建了一套完整的医疗数据分析系统，并验证了关联规则挖掘技术在该领域的应用价值。当然，项目还有很多可以改进的地方。未来，我们希望能引入基因、影像等更多维度的数据，并优化算法，最终将系统真正部署到实际的医疗场景中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我的汇报到此结束。感谢各位老师和同学的聆听，欢迎大家提问和指正。谢谢！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0" Type="http://schemas.openxmlformats.org/officeDocument/2006/relationships/notesSlide" Target="../notesSlides/notesSlide4.xml"/><Relationship Id="rId2" Type="http://schemas.openxmlformats.org/officeDocument/2006/relationships/tags" Target="../tags/tag18.xml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28.xml"/><Relationship Id="rId17" Type="http://schemas.openxmlformats.org/officeDocument/2006/relationships/tags" Target="../tags/tag27.xml"/><Relationship Id="rId16" Type="http://schemas.openxmlformats.org/officeDocument/2006/relationships/image" Target="../media/image7.svg"/><Relationship Id="rId15" Type="http://schemas.openxmlformats.org/officeDocument/2006/relationships/image" Target="../media/image6.png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image" Target="../media/image5.svg"/><Relationship Id="rId1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.png"/><Relationship Id="rId1" Type="http://schemas.openxmlformats.org/officeDocument/2006/relationships/tags" Target="../tags/tag5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7.png"/><Relationship Id="rId1" Type="http://schemas.openxmlformats.org/officeDocument/2006/relationships/tags" Target="../tags/tag56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3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310" r="39737"/>
          <a:stretch>
            <a:fillRect/>
          </a:stretch>
        </p:blipFill>
        <p:spPr>
          <a:xfrm>
            <a:off x="8204200" y="520700"/>
            <a:ext cx="3429000" cy="5816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708900" y="520700"/>
            <a:ext cx="495300" cy="5816600"/>
          </a:xfrm>
          <a:prstGeom prst="roundRect">
            <a:avLst>
              <a:gd name="adj" fmla="val 0"/>
            </a:avLst>
          </a:prstGeom>
          <a:solidFill>
            <a:srgbClr val="2B2F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33400" y="469900"/>
            <a:ext cx="6807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4800" b="1"/>
              <a:t>Disease Factor </a:t>
            </a:r>
            <a:endParaRPr lang="en-US" sz="4800" b="1"/>
          </a:p>
          <a:p>
            <a:pPr marL="0" indent="0" algn="l">
              <a:lnSpc>
                <a:spcPct val="83000"/>
              </a:lnSpc>
              <a:defRPr/>
            </a:pPr>
            <a:r>
              <a:rPr lang="en-US" sz="4800" b="1"/>
              <a:t>Mining System</a:t>
            </a:r>
            <a:endParaRPr lang="en-US" sz="4800" b="1"/>
          </a:p>
        </p:txBody>
      </p:sp>
      <p:sp>
        <p:nvSpPr>
          <p:cNvPr id="5" name="AutoShape 5"/>
          <p:cNvSpPr/>
          <p:nvPr/>
        </p:nvSpPr>
        <p:spPr>
          <a:xfrm>
            <a:off x="533400" y="2984500"/>
            <a:ext cx="685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2B2F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基于关联规则的疾病相关因素挖掘与分析系统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" y="4445000"/>
            <a:ext cx="685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项目汇报与答辩</a:t>
            </a:r>
            <a:endParaRPr lang="zh-CN" altLang="en-US" sz="2400" b="1" i="0" u="none" strike="noStrike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zh-CN" altLang="en-US" sz="2400" b="1" i="0" u="none" strike="noStrike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</a:t>
            </a:r>
            <a:r>
              <a:rPr lang="en-US" altLang="zh-CN" sz="2400" b="1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&amp; </a:t>
            </a:r>
            <a:r>
              <a:rPr lang="zh-CN" altLang="en-US" sz="2400" b="1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组长：赵朴钰</a:t>
            </a:r>
            <a:endParaRPr lang="zh-CN" altLang="en-US" sz="2400" b="1" i="0" u="none" strike="noStrike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33400" y="5461000"/>
            <a:ext cx="685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华迪实习实训基地</a:t>
            </a:r>
            <a:r>
              <a:rPr lang="en-US" altLang="zh-CN" sz="16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</a:t>
            </a:r>
            <a:r>
              <a:rPr lang="en-US" sz="16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大数据二班</a:t>
            </a:r>
            <a:r>
              <a:rPr lang="en-US" altLang="zh-CN" sz="1600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</a:t>
            </a:r>
            <a:r>
              <a:rPr lang="en-US" sz="16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第10组 | 2026年7月16</a:t>
            </a:r>
            <a:r>
              <a:rPr lang="zh-CN" altLang="en-US" sz="16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</a:t>
            </a:r>
            <a:endParaRPr lang="zh-CN" altLang="en-US" sz="1600" b="0" i="0" u="none" strike="noStrike">
              <a:solidFill>
                <a:srgbClr val="88888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1079500"/>
            <a:ext cx="3175000" cy="977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11200" y="1803400"/>
            <a:ext cx="3175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2B2F36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5029200" y="715645"/>
            <a:ext cx="838200" cy="838200"/>
          </a:xfrm>
          <a:prstGeom prst="ellipse">
            <a:avLst/>
          </a:prstGeom>
          <a:solidFill>
            <a:srgbClr val="2B2F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5956300" y="855345"/>
            <a:ext cx="1498600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</a:t>
            </a:r>
            <a:r>
              <a:rPr lang="zh-CN" alt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研究意义</a:t>
            </a:r>
            <a:endParaRPr lang="zh-CN" altLang="en-US" sz="18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454900" y="868045"/>
            <a:ext cx="4191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剖析医疗大数据时代的行业机遇，探讨当前面临的技术与应用挑战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5029200" y="1884045"/>
            <a:ext cx="838200" cy="838200"/>
          </a:xfrm>
          <a:prstGeom prst="ellipse">
            <a:avLst/>
          </a:prstGeom>
          <a:solidFill>
            <a:srgbClr val="2B2F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5956300" y="2023745"/>
            <a:ext cx="1498600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项目需求与设计</a:t>
            </a:r>
            <a:endParaRPr lang="zh-CN" altLang="en-US" sz="18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7454900" y="2179320"/>
            <a:ext cx="4191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介绍支撑项目的核心算法与技术栈</a:t>
            </a:r>
            <a:r>
              <a:rPr lang="zh-CN" altLang="en-US" sz="14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展示系统整体技术架构设计，演示核心功能模块的实际应用场景</a:t>
            </a:r>
            <a:endParaRPr lang="en-US"/>
          </a:p>
          <a:p>
            <a:pPr marL="0" indent="0" algn="l">
              <a:lnSpc>
                <a:spcPct val="125000"/>
              </a:lnSpc>
              <a:defRPr/>
            </a:pPr>
            <a:endParaRPr lang="zh-CN" altLang="en-US" sz="1400" b="0" i="0" u="none" strike="noStrike">
              <a:solidFill>
                <a:srgbClr val="000000">
                  <a:alpha val="69804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7"/>
            </p:custDataLst>
          </p:nvPr>
        </p:nvSpPr>
        <p:spPr>
          <a:xfrm>
            <a:off x="7454900" y="2517140"/>
            <a:ext cx="4191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5029200" y="3124835"/>
            <a:ext cx="838200" cy="838200"/>
          </a:xfrm>
          <a:prstGeom prst="ellipse">
            <a:avLst/>
          </a:prstGeom>
          <a:solidFill>
            <a:srgbClr val="2B2F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9"/>
            </p:custDataLst>
          </p:nvPr>
        </p:nvSpPr>
        <p:spPr>
          <a:xfrm>
            <a:off x="5956300" y="3277235"/>
            <a:ext cx="1498600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团队分工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7454900" y="3289935"/>
            <a:ext cx="4191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介绍</a:t>
            </a:r>
            <a:r>
              <a:rPr lang="zh-CN" altLang="en-US" sz="14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项目开发工作划分、小组各</a:t>
            </a:r>
            <a:r>
              <a:rPr lang="en-US" sz="14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成员</a:t>
            </a:r>
            <a:r>
              <a:rPr lang="zh-CN" altLang="en-US" sz="14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分工与职责</a:t>
            </a:r>
            <a:endParaRPr lang="zh-CN" altLang="en-US" sz="1400" b="0" i="0" u="none" strike="noStrike">
              <a:solidFill>
                <a:srgbClr val="000000">
                  <a:alpha val="69804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3"/>
          <p:cNvSpPr/>
          <p:nvPr>
            <p:custDataLst>
              <p:tags r:id="rId11"/>
            </p:custDataLst>
          </p:nvPr>
        </p:nvSpPr>
        <p:spPr>
          <a:xfrm>
            <a:off x="5029200" y="4280535"/>
            <a:ext cx="838200" cy="838200"/>
          </a:xfrm>
          <a:prstGeom prst="ellipse">
            <a:avLst/>
          </a:prstGeom>
          <a:solidFill>
            <a:srgbClr val="2B2F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lang="en-US" sz="1100"/>
          </a:p>
        </p:txBody>
      </p:sp>
      <p:sp>
        <p:nvSpPr>
          <p:cNvPr id="20" name="AutoShape 14"/>
          <p:cNvSpPr/>
          <p:nvPr>
            <p:custDataLst>
              <p:tags r:id="rId12"/>
            </p:custDataLst>
          </p:nvPr>
        </p:nvSpPr>
        <p:spPr>
          <a:xfrm>
            <a:off x="5956300" y="4432935"/>
            <a:ext cx="1498600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个人汇报</a:t>
            </a:r>
            <a:endParaRPr lang="zh-CN" altLang="en-US" sz="18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15"/>
          <p:cNvSpPr/>
          <p:nvPr>
            <p:custDataLst>
              <p:tags r:id="rId13"/>
            </p:custDataLst>
          </p:nvPr>
        </p:nvSpPr>
        <p:spPr>
          <a:xfrm>
            <a:off x="7454900" y="4445635"/>
            <a:ext cx="4191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开发人员各自汇报负责模块开发进度、流程与成果</a:t>
            </a:r>
            <a:endParaRPr lang="zh-CN" altLang="en-US" sz="1400" b="0" i="0" u="none" strike="noStrike">
              <a:solidFill>
                <a:srgbClr val="000000">
                  <a:alpha val="69804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13"/>
          <p:cNvSpPr/>
          <p:nvPr>
            <p:custDataLst>
              <p:tags r:id="rId14"/>
            </p:custDataLst>
          </p:nvPr>
        </p:nvSpPr>
        <p:spPr>
          <a:xfrm>
            <a:off x="5029200" y="5436235"/>
            <a:ext cx="838200" cy="838200"/>
          </a:xfrm>
          <a:prstGeom prst="ellipse">
            <a:avLst/>
          </a:prstGeom>
          <a:solidFill>
            <a:srgbClr val="2B2F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  <a:endParaRPr lang="en-US" sz="1100"/>
          </a:p>
        </p:txBody>
      </p:sp>
      <p:sp>
        <p:nvSpPr>
          <p:cNvPr id="23" name="AutoShape 14"/>
          <p:cNvSpPr/>
          <p:nvPr>
            <p:custDataLst>
              <p:tags r:id="rId15"/>
            </p:custDataLst>
          </p:nvPr>
        </p:nvSpPr>
        <p:spPr>
          <a:xfrm>
            <a:off x="5956300" y="5588635"/>
            <a:ext cx="1498600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endParaRPr lang="en-US" sz="1100"/>
          </a:p>
        </p:txBody>
      </p:sp>
      <p:sp>
        <p:nvSpPr>
          <p:cNvPr id="24" name="AutoShape 15"/>
          <p:cNvSpPr/>
          <p:nvPr>
            <p:custDataLst>
              <p:tags r:id="rId16"/>
            </p:custDataLst>
          </p:nvPr>
        </p:nvSpPr>
        <p:spPr>
          <a:xfrm>
            <a:off x="7454900" y="5601335"/>
            <a:ext cx="4191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总结项目研究成果与价值，展望未来优化方向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68950" y="836295"/>
            <a:ext cx="4724400" cy="147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6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疾病相关</a:t>
            </a:r>
            <a:endParaRPr lang="zh-CN" altLang="en-US" sz="64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6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因素挖掘</a:t>
            </a:r>
            <a:endParaRPr lang="zh-CN" altLang="en-US" sz="64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513070" y="2930525"/>
            <a:ext cx="40386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457200" algn="l">
              <a:lnSpc>
                <a:spcPct val="125000"/>
              </a:lnSpc>
              <a:defRPr/>
            </a:pPr>
            <a:r>
              <a:rPr lang="en-US" sz="1600" b="1">
                <a:solidFill>
                  <a:schemeClr val="tx1">
                    <a:alpha val="69804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面向医疗健康机构，构建疾病相关因素挖掘与分析平台</a:t>
            </a:r>
            <a:endParaRPr lang="en-US" sz="1600" b="1">
              <a:solidFill>
                <a:schemeClr val="tx1">
                  <a:alpha val="69804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457200" algn="l">
              <a:lnSpc>
                <a:spcPct val="125000"/>
              </a:lnSpc>
              <a:defRPr/>
            </a:pPr>
            <a:r>
              <a:rPr lang="en-US" sz="1600" b="1">
                <a:solidFill>
                  <a:schemeClr val="tx1">
                    <a:alpha val="69804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整合临床、体检数据，个人生活饮食作息习惯，环境因素，基因数据等多维度信息</a:t>
            </a:r>
            <a:endParaRPr lang="en-US" sz="1600" b="1">
              <a:solidFill>
                <a:schemeClr val="tx1">
                  <a:alpha val="69804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457200" algn="l">
              <a:lnSpc>
                <a:spcPct val="125000"/>
              </a:lnSpc>
              <a:defRPr/>
            </a:pPr>
            <a:r>
              <a:rPr lang="en-US" sz="1600" b="1">
                <a:solidFill>
                  <a:schemeClr val="tx1">
                    <a:alpha val="69804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关联疾病与危险因素、症状与疾病、疾病与治疗方案。生成可视化报告，为疾病预防与控制、个性化诊疗方案提供数据支撑。</a:t>
            </a:r>
            <a:endParaRPr lang="en-US" sz="1600" b="1">
              <a:solidFill>
                <a:schemeClr val="tx1">
                  <a:alpha val="69804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960100" y="619125"/>
            <a:ext cx="495300" cy="5270500"/>
          </a:xfrm>
          <a:prstGeom prst="roundRect">
            <a:avLst>
              <a:gd name="adj" fmla="val 0"/>
            </a:avLst>
          </a:prstGeom>
          <a:solidFill>
            <a:srgbClr val="2B2F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2"/>
          <p:cNvSpPr/>
          <p:nvPr/>
        </p:nvSpPr>
        <p:spPr>
          <a:xfrm>
            <a:off x="210820" y="1499870"/>
            <a:ext cx="1498600" cy="1498600"/>
          </a:xfrm>
          <a:prstGeom prst="ellipse">
            <a:avLst/>
          </a:prstGeom>
          <a:solidFill>
            <a:schemeClr val="tx1"/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chemeClr val="bg1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lang="en-US" sz="3600" b="1" i="0" u="none" strike="noStrike">
              <a:solidFill>
                <a:schemeClr val="bg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AutoShape 3"/>
          <p:cNvSpPr/>
          <p:nvPr/>
        </p:nvSpPr>
        <p:spPr>
          <a:xfrm>
            <a:off x="1912620" y="181737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</a:t>
            </a:r>
            <a:br>
              <a:rPr lang="en-US" sz="2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研究意义</a:t>
            </a:r>
            <a:endParaRPr lang="en-US" sz="24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06500" y="977900"/>
            <a:ext cx="2489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系统用途</a:t>
            </a:r>
            <a:endParaRPr lang="zh-CN" altLang="en-US" sz="20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3695700" y="977900"/>
            <a:ext cx="70358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本项目聚焦医疗健康领域的数据分析与应用，旨在通过挖掘多维度医疗数据的潜在价值，为临床诊疗优化、全民健康管理及医疗资源宏观配置提供坚实的科学支撑与决策依据。</a:t>
            </a:r>
            <a:endParaRPr lang="en-US" sz="1200" b="0" i="0" u="none" strike="noStrike">
              <a:solidFill>
                <a:srgbClr val="000000">
                  <a:alpha val="69804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200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项目包含以下部分</a:t>
            </a:r>
            <a:r>
              <a:rPr lang="zh-CN" altLang="en-US" sz="1200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</a:t>
            </a:r>
            <a:endParaRPr lang="zh-CN" altLang="en-US" sz="1200">
              <a:solidFill>
                <a:srgbClr val="000000">
                  <a:alpha val="69804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1244600" y="2184400"/>
            <a:ext cx="2489200" cy="2082800"/>
          </a:xfrm>
          <a:prstGeom prst="roundRect">
            <a:avLst>
              <a:gd name="adj" fmla="val 0"/>
            </a:avLst>
          </a:prstGeom>
          <a:solidFill>
            <a:srgbClr val="2B2F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0100" y="2806700"/>
            <a:ext cx="838200" cy="8382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028700" y="4419600"/>
            <a:ext cx="29337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疾病风险预测</a:t>
            </a:r>
            <a:endParaRPr lang="zh-CN" altLang="en-US" sz="18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028700" y="4991100"/>
            <a:ext cx="2933700" cy="622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2B2F36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快速识别高风险人群，</a:t>
            </a:r>
            <a:r>
              <a:rPr lang="zh-CN" altLang="en-US" sz="1200" b="0" i="0" u="none" strike="noStrike">
                <a:solidFill>
                  <a:srgbClr val="2B2F36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预测当前状态下可能发生的疾病风险。</a:t>
            </a:r>
            <a:endParaRPr lang="zh-CN" altLang="en-US" sz="1200" b="0" i="0" u="none" strike="noStrike">
              <a:solidFill>
                <a:srgbClr val="2B2F36">
                  <a:alpha val="5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4851400" y="2184400"/>
            <a:ext cx="2489200" cy="2082800"/>
          </a:xfrm>
          <a:prstGeom prst="roundRect">
            <a:avLst>
              <a:gd name="adj" fmla="val 0"/>
            </a:avLst>
          </a:prstGeom>
          <a:solidFill>
            <a:srgbClr val="2B2F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76900" y="2806700"/>
            <a:ext cx="838200" cy="8382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4635500" y="4419600"/>
            <a:ext cx="29337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健康数据对比</a:t>
            </a:r>
            <a:endParaRPr lang="en-US" sz="1800" b="1"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4635500" y="4991100"/>
            <a:ext cx="2933700" cy="622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>
                <a:solidFill>
                  <a:srgbClr val="2B2F36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基于统计数据的标准值，给出个人数据与平均健康数据的差异化可视图表</a:t>
            </a:r>
            <a:r>
              <a:rPr lang="zh-CN" altLang="en-US" sz="1200">
                <a:solidFill>
                  <a:srgbClr val="2B2F36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。</a:t>
            </a:r>
            <a:endParaRPr lang="en-US" sz="1200">
              <a:solidFill>
                <a:srgbClr val="2B2F36">
                  <a:alpha val="5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ctr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8458200" y="2184400"/>
            <a:ext cx="2489200" cy="2082800"/>
          </a:xfrm>
          <a:prstGeom prst="roundRect">
            <a:avLst>
              <a:gd name="adj" fmla="val 0"/>
            </a:avLst>
          </a:prstGeom>
          <a:solidFill>
            <a:srgbClr val="2B2F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83700" y="2806700"/>
            <a:ext cx="838200" cy="8382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7"/>
            </p:custDataLst>
          </p:nvPr>
        </p:nvSpPr>
        <p:spPr>
          <a:xfrm>
            <a:off x="8229600" y="4419600"/>
            <a:ext cx="29337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1800" b="1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健康</a:t>
            </a:r>
            <a:r>
              <a:rPr lang="en-US" sz="1800" b="1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决策支持</a:t>
            </a:r>
            <a:endParaRPr lang="zh-CN" altLang="en-US" sz="18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8229600" y="4991100"/>
            <a:ext cx="2933700" cy="622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>
                <a:solidFill>
                  <a:srgbClr val="2B2F36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深度挖掘生活习惯与疾病的潜在关联，</a:t>
            </a:r>
            <a:endParaRPr lang="en-US" sz="1200">
              <a:solidFill>
                <a:srgbClr val="2B2F36">
                  <a:alpha val="5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00000"/>
              </a:lnSpc>
              <a:defRPr/>
            </a:pPr>
            <a:r>
              <a:rPr lang="zh-CN" altLang="en-US" sz="1200">
                <a:solidFill>
                  <a:srgbClr val="2B2F36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标识高危因素，</a:t>
            </a:r>
            <a:r>
              <a:rPr lang="en-US" sz="1200">
                <a:solidFill>
                  <a:srgbClr val="2B2F36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提供个性化干预建议，从源头降低疾病发生风险。</a:t>
            </a:r>
            <a:endParaRPr lang="en-US" sz="1200">
              <a:solidFill>
                <a:srgbClr val="2B2F36">
                  <a:alpha val="5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35700" y="836930"/>
            <a:ext cx="4724400" cy="147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NHANES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39840" y="2178050"/>
            <a:ext cx="4191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❖ 数据权威：</a:t>
            </a:r>
            <a:r>
              <a:rPr lang="en-US" sz="14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由美国CDC持续开展的全国性调查，经过严格质控，具备极高的可信度与代表性。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❖ 多维整合：</a:t>
            </a:r>
            <a:r>
              <a:rPr lang="en-US" sz="14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融合问卷、体检与实验室检测数据，全方位还原健康特征，精准匹配研究需求。</a:t>
            </a:r>
            <a:endParaRPr lang="en-US" sz="1400" b="0" i="0" u="none" strike="noStrike">
              <a:solidFill>
                <a:srgbClr val="000000">
                  <a:alpha val="69804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❖ 海量样本：</a:t>
            </a:r>
            <a:r>
              <a:rPr lang="en-US" sz="14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自1999年持续采集，积累超大规模样本，为深度挖掘与模型训练提供充足基础。</a:t>
            </a:r>
            <a:endParaRPr lang="en-US" sz="1400" b="0" i="0" u="none" strike="noStrike">
              <a:solidFill>
                <a:srgbClr val="000000">
                  <a:alpha val="69804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❖ 开放共享：</a:t>
            </a:r>
            <a:r>
              <a:rPr lang="en-US" sz="14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对全球研究者免费开放，无商业壁垒，是验证算法与学术研究的理想选择。</a:t>
            </a:r>
            <a:endParaRPr lang="en-US" sz="1400" b="0" i="0" u="none" strike="noStrike">
              <a:solidFill>
                <a:srgbClr val="000000">
                  <a:alpha val="69804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960100" y="558800"/>
            <a:ext cx="495300" cy="5270500"/>
          </a:xfrm>
          <a:prstGeom prst="roundRect">
            <a:avLst>
              <a:gd name="adj" fmla="val 0"/>
            </a:avLst>
          </a:prstGeom>
          <a:solidFill>
            <a:srgbClr val="2B2F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2"/>
          <p:cNvSpPr/>
          <p:nvPr/>
        </p:nvSpPr>
        <p:spPr>
          <a:xfrm>
            <a:off x="302260" y="434975"/>
            <a:ext cx="1498600" cy="1498600"/>
          </a:xfrm>
          <a:prstGeom prst="ellipse">
            <a:avLst/>
          </a:prstGeom>
          <a:solidFill>
            <a:schemeClr val="tx1"/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chemeClr val="bg1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lang="en-US" sz="3600" b="1" i="0" u="none" strike="noStrike">
              <a:solidFill>
                <a:schemeClr val="bg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" name="AutoShape 3"/>
          <p:cNvSpPr/>
          <p:nvPr/>
        </p:nvSpPr>
        <p:spPr>
          <a:xfrm>
            <a:off x="2004060" y="752475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400" b="1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项目需求与设计</a:t>
            </a:r>
            <a:endParaRPr lang="en-US" sz="24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861060" y="2573655"/>
            <a:ext cx="4977130" cy="3381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/>
              <a:t>我们通过爬取</a:t>
            </a:r>
            <a:r>
              <a:rPr lang="en-US" altLang="en-US" sz="1800"/>
              <a:t> NHANES‌</a:t>
            </a:r>
            <a:r>
              <a:rPr lang="zh-CN" altLang="en-US" sz="1800"/>
              <a:t>项目全套数据，生成完整数据集，包含常见疾病与各类因素，用于机器学习相关算法进行模型训练，后续将训练结果转移至预测程序，通过前端收集用户数据，后端检查并预测，返回结果，最终呈现可视化报告。报告内容包括：潜在疾病预测，健康数据对比雷达图、表格。通过可视化异常指标，为用户提供医疗健康建议。</a:t>
            </a:r>
            <a:endParaRPr lang="zh-CN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1495" y="1379220"/>
            <a:ext cx="5200650" cy="4343400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553720" y="483235"/>
            <a:ext cx="5136515" cy="2339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/>
              <a:t>经过分析，我们认为项目主要实现的程序分两部分：</a:t>
            </a:r>
            <a:endParaRPr lang="zh-CN" altLang="en-US" sz="1800"/>
          </a:p>
          <a:p>
            <a:r>
              <a:rPr lang="en-US" altLang="en-US" sz="1800"/>
              <a:t>1. </a:t>
            </a:r>
            <a:r>
              <a:rPr lang="zh-CN" altLang="en-US" sz="1800"/>
              <a:t>数据采集处理与应用部分，这部分在项目后台进行，用于收集数据并挖掘关联，只需要一次性运行并输出结果即可，包括前期数据相关搜索分析工作、数据采集与处理脚本、模型训练。</a:t>
            </a:r>
            <a:endParaRPr lang="zh-CN" altLang="en-US" sz="1800"/>
          </a:p>
          <a:p>
            <a:r>
              <a:rPr lang="en-US" altLang="en-US" sz="1800"/>
              <a:t>2.Web </a:t>
            </a:r>
            <a:r>
              <a:rPr lang="zh-CN" altLang="en-US" sz="1800"/>
              <a:t>服务部分，这部分在项目前台进行，用于服务用户，在实际部署中需要使用服务器持久化运行，包括前端、后端与预测程序。</a:t>
            </a:r>
            <a:endParaRPr lang="zh-CN" altLang="en-US" sz="1800"/>
          </a:p>
        </p:txBody>
      </p:sp>
      <p:sp>
        <p:nvSpPr>
          <p:cNvPr id="17" name="Text Box 16"/>
          <p:cNvSpPr txBox="1"/>
          <p:nvPr/>
        </p:nvSpPr>
        <p:spPr>
          <a:xfrm>
            <a:off x="7221855" y="62801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>
                <a:ea typeface="宋体" panose="02010600030101010101" pitchFamily="2" charset="-122"/>
              </a:rPr>
              <a:t>三大模块</a:t>
            </a:r>
            <a:endParaRPr lang="zh-CN" altLang="en-US" sz="3600" b="1">
              <a:ea typeface="宋体" panose="02010600030101010101" pitchFamily="2" charset="-122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531495" y="3334067"/>
            <a:ext cx="5080000" cy="147637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800"/>
              <a:t>根据开发工作涉及的技术与内容，进一步将项目工作划分为三个模块，即：</a:t>
            </a:r>
            <a:endParaRPr lang="zh-CN" altLang="en-US" sz="1800"/>
          </a:p>
          <a:p>
            <a:r>
              <a:rPr lang="zh-CN" altLang="en-US" sz="1800"/>
              <a:t>数据采集与处理模块</a:t>
            </a:r>
            <a:endParaRPr lang="zh-CN" altLang="en-US" sz="1800"/>
          </a:p>
          <a:p>
            <a:r>
              <a:rPr lang="zh-CN" altLang="en-US" sz="1800"/>
              <a:t>存储与模型训练模块</a:t>
            </a:r>
            <a:endParaRPr lang="zh-CN" altLang="en-US" sz="1800"/>
          </a:p>
          <a:p>
            <a:r>
              <a:rPr lang="zh-CN" altLang="en-US" sz="1800"/>
              <a:t>Web 服务模块</a:t>
            </a:r>
            <a:endParaRPr lang="zh-CN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5"/>
          <p:cNvSpPr txBox="1"/>
          <p:nvPr/>
        </p:nvSpPr>
        <p:spPr>
          <a:xfrm>
            <a:off x="676910" y="437515"/>
            <a:ext cx="406400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项</a:t>
            </a:r>
            <a:endParaRPr lang="zh-CN" altLang="en-US" sz="3200" b="1"/>
          </a:p>
          <a:p>
            <a:r>
              <a:rPr lang="zh-CN" altLang="en-US" sz="3200" b="1"/>
              <a:t>目</a:t>
            </a:r>
            <a:endParaRPr lang="zh-CN" altLang="en-US" sz="3200" b="1"/>
          </a:p>
          <a:p>
            <a:r>
              <a:rPr lang="zh-CN" altLang="en-US" sz="3200" b="1"/>
              <a:t>工</a:t>
            </a:r>
            <a:endParaRPr lang="zh-CN" altLang="en-US" sz="3200" b="1"/>
          </a:p>
          <a:p>
            <a:r>
              <a:rPr lang="zh-CN" altLang="en-US" sz="3200" b="1"/>
              <a:t>作</a:t>
            </a:r>
            <a:endParaRPr lang="zh-CN" altLang="en-US" sz="3200" b="1"/>
          </a:p>
          <a:p>
            <a:r>
              <a:rPr lang="zh-CN" altLang="en-US" sz="3200" b="1"/>
              <a:t>流</a:t>
            </a:r>
            <a:endParaRPr lang="zh-CN" altLang="en-US" sz="3200" b="1"/>
          </a:p>
          <a:p>
            <a:r>
              <a:rPr lang="zh-CN" altLang="en-US" sz="3200" b="1"/>
              <a:t>程</a:t>
            </a:r>
            <a:endParaRPr lang="zh-CN" altLang="en-US" sz="3200" b="1"/>
          </a:p>
          <a:p>
            <a:r>
              <a:rPr lang="zh-CN" altLang="en-US" sz="3200" b="1"/>
              <a:t>：</a:t>
            </a:r>
            <a:endParaRPr lang="zh-CN" altLang="en-US" sz="3200" b="1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5294" t="59217" r="8123" b="5027"/>
          <a:stretch>
            <a:fillRect/>
          </a:stretch>
        </p:blipFill>
        <p:spPr>
          <a:xfrm>
            <a:off x="3263900" y="952500"/>
            <a:ext cx="2565400" cy="162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t="25000" r="50000" b="43316"/>
          <a:stretch>
            <a:fillRect/>
          </a:stretch>
        </p:blipFill>
        <p:spPr>
          <a:xfrm flipV="1">
            <a:off x="482600" y="952500"/>
            <a:ext cx="2565400" cy="162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1739900" y="4305300"/>
            <a:ext cx="3556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团队分工</a:t>
            </a:r>
            <a:endParaRPr lang="en-US" sz="5400"/>
          </a:p>
        </p:txBody>
      </p:sp>
      <p:sp>
        <p:nvSpPr>
          <p:cNvPr id="5" name="AutoShape 5"/>
          <p:cNvSpPr/>
          <p:nvPr/>
        </p:nvSpPr>
        <p:spPr>
          <a:xfrm>
            <a:off x="406400" y="3721100"/>
            <a:ext cx="3175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2B2F36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项目贡献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1800" y="2730500"/>
            <a:ext cx="40386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本项目由四人协作团队打造，覆盖</a:t>
            </a:r>
            <a:r>
              <a:rPr lang="zh-CN" altLang="en-US" sz="12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项目架构三大模块</a:t>
            </a:r>
            <a:r>
              <a:rPr lang="en-US" sz="12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。成员各司其职、紧密配合</a:t>
            </a:r>
            <a:r>
              <a:rPr lang="zh-CN" altLang="en-US" sz="12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sz="1200" b="0" i="0" u="none" strike="noStrike">
              <a:solidFill>
                <a:srgbClr val="000000">
                  <a:alpha val="69804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438900" y="1257300"/>
            <a:ext cx="50165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</a:t>
            </a:r>
            <a:r>
              <a:rPr lang="zh-CN" altLang="en-US" sz="12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们将项目划分为多个阶段，通过动态开发、保守设计接口与数据对接代码，实现全组同步开发、全模块并行。</a:t>
            </a:r>
            <a:endParaRPr lang="zh-CN" altLang="en-US" sz="1200" b="0" i="0" u="none" strike="noStrike">
              <a:solidFill>
                <a:srgbClr val="000000">
                  <a:alpha val="69804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5625465" y="2863215"/>
            <a:ext cx="3279628" cy="2104556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5727040" y="3014882"/>
            <a:ext cx="3108481" cy="18833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赵朴钰（组长）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主导需求拆解与架构设计，负责数据采集清洗模块搭建，把控项目整体进度与技术方向</a:t>
            </a:r>
            <a:r>
              <a:rPr lang="zh-CN" alt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sz="11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8450092" y="2863215"/>
            <a:ext cx="3279628" cy="2104556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8551667" y="3014882"/>
            <a:ext cx="3108481" cy="18833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翟磊（模型开发）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对接数据模块完成特征工程，专注算法模型的训练、调优与验证，实现预测程序的核心逻辑开发与部署。</a:t>
            </a:r>
            <a:endParaRPr lang="en-US" sz="11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5625465" y="4393801"/>
            <a:ext cx="3279628" cy="2104556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5727040" y="4545468"/>
            <a:ext cx="3108481" cy="18833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白润峰（后端开发）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搭建Web服务后端架构，设计并实现API接口对接模型服务，处理前端请求与数据交互，保障服务高可用。</a:t>
            </a:r>
            <a:endParaRPr lang="en-US" sz="11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8450092" y="4393801"/>
            <a:ext cx="3279628" cy="2104556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8551667" y="4545468"/>
            <a:ext cx="3108481" cy="18833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唐挥武（前端开发）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负责用户界面设计与开发，对接后端接口实现数据可视化，收集用户交互信息并持续优化页面交互体验。</a:t>
            </a:r>
            <a:endParaRPr lang="en-US" sz="11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2"/>
          <p:cNvSpPr/>
          <p:nvPr/>
        </p:nvSpPr>
        <p:spPr>
          <a:xfrm>
            <a:off x="81915" y="4584700"/>
            <a:ext cx="1498600" cy="1498600"/>
          </a:xfrm>
          <a:prstGeom prst="ellipse">
            <a:avLst/>
          </a:prstGeom>
          <a:solidFill>
            <a:schemeClr val="tx1"/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chemeClr val="bg1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lang="en-US" sz="3600" b="1" i="0" u="none" strike="noStrike">
              <a:solidFill>
                <a:schemeClr val="bg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2D86"/>
            </a:gs>
            <a:gs pos="100000">
              <a:srgbClr val="0E2557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311400" y="2451100"/>
            <a:ext cx="1498600" cy="14986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B2F36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058920" y="258318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个人汇报</a:t>
            </a:r>
            <a:endParaRPr lang="zh-CN" altLang="en-US" sz="3600"/>
          </a:p>
        </p:txBody>
      </p:sp>
      <p:sp>
        <p:nvSpPr>
          <p:cNvPr id="4" name="AutoShape 4"/>
          <p:cNvSpPr/>
          <p:nvPr/>
        </p:nvSpPr>
        <p:spPr>
          <a:xfrm>
            <a:off x="6913880" y="2365375"/>
            <a:ext cx="406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FFFFFF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由各功能模块开发人员</a:t>
            </a:r>
            <a:r>
              <a:rPr lang="zh-CN" altLang="en-US" sz="1600">
                <a:solidFill>
                  <a:srgbClr val="FFFFFF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汇报所负责模块开发进度、流程与成果</a:t>
            </a:r>
            <a:endParaRPr lang="zh-CN" altLang="en-US" sz="1600" b="0" i="0" u="none" strike="noStrike">
              <a:solidFill>
                <a:srgbClr val="FFFFFF">
                  <a:alpha val="69804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0189845" y="596900"/>
            <a:ext cx="495300" cy="5816600"/>
          </a:xfrm>
          <a:prstGeom prst="roundRect">
            <a:avLst>
              <a:gd name="adj" fmla="val 0"/>
            </a:avLst>
          </a:prstGeom>
          <a:solidFill>
            <a:srgbClr val="2B2F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33400" y="469900"/>
            <a:ext cx="9519285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7000" b="1" i="0" u="none" strike="noStrike">
                <a:solidFill>
                  <a:srgbClr val="2B2F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数据采集与处理模块</a:t>
            </a:r>
            <a:endParaRPr lang="en-US" sz="7000" b="1" i="0" u="none" strike="noStrike">
              <a:solidFill>
                <a:srgbClr val="2B2F3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71500" y="3048000"/>
            <a:ext cx="6807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B2F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个人汇报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" y="4699000"/>
            <a:ext cx="6807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汇报人：赵朴钰 | 2026年7月16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</a:t>
            </a:r>
            <a:endParaRPr lang="zh-CN" altLang="en-US" sz="18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1079500"/>
            <a:ext cx="3175000" cy="977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11200" y="1803400"/>
            <a:ext cx="3175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2B2F36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4953000" y="1295400"/>
            <a:ext cx="838200" cy="838200"/>
          </a:xfrm>
          <a:prstGeom prst="ellipse">
            <a:avLst/>
          </a:prstGeom>
          <a:solidFill>
            <a:srgbClr val="2B2F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5880100" y="1435100"/>
            <a:ext cx="1498600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数据来源确定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378700" y="1447800"/>
            <a:ext cx="4191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深入解析NHANES项目的权威性与样本代表性，明确其作为核心数据源的选择依据与价值。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4953000" y="2463800"/>
            <a:ext cx="838200" cy="838200"/>
          </a:xfrm>
          <a:prstGeom prst="ellipse">
            <a:avLst/>
          </a:prstGeom>
          <a:solidFill>
            <a:srgbClr val="2B2F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5880100" y="2603500"/>
            <a:ext cx="1498600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自动化采集</a:t>
            </a:r>
            <a:endParaRPr lang="zh-CN" altLang="en-US" sz="18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7378700" y="2616200"/>
            <a:ext cx="4191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构建自动化的网络数据采集框架，实现高效稳定的数据抓取。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4953000" y="3619500"/>
            <a:ext cx="838200" cy="838200"/>
          </a:xfrm>
          <a:prstGeom prst="ellipse">
            <a:avLst/>
          </a:prstGeom>
          <a:solidFill>
            <a:srgbClr val="2B2F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5880100" y="3771900"/>
            <a:ext cx="1498600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筛选与处理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7378700" y="3784600"/>
            <a:ext cx="4191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编制处理规则表，自动化批量处理多字段。</a:t>
            </a:r>
            <a:endParaRPr lang="zh-CN" altLang="en-US" sz="1400" b="0" i="0" u="none" strike="noStrike">
              <a:solidFill>
                <a:srgbClr val="000000">
                  <a:alpha val="69804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4953000" y="4787900"/>
            <a:ext cx="838200" cy="838200"/>
          </a:xfrm>
          <a:prstGeom prst="ellipse">
            <a:avLst/>
          </a:prstGeom>
          <a:solidFill>
            <a:srgbClr val="2B2F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5880100" y="4940300"/>
            <a:ext cx="1498600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数据标准化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7378700" y="4953000"/>
            <a:ext cx="4191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清洗异常、统计分析特征作用，最终确定数据结构</a:t>
            </a:r>
            <a:r>
              <a:rPr lang="en-US" sz="14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，完，为后续建模分析夯实基础。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custDataLst>
              <p:tags r:id="rId1"/>
            </p:custDataLst>
          </p:nvPr>
        </p:nvSpPr>
        <p:spPr>
          <a:xfrm>
            <a:off x="825500" y="914400"/>
            <a:ext cx="3175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数据基石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825500" y="1270000"/>
            <a:ext cx="31750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NHANES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3"/>
            </p:custDataLst>
          </p:nvPr>
        </p:nvSpPr>
        <p:spPr>
          <a:xfrm>
            <a:off x="825500" y="2133600"/>
            <a:ext cx="40386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美国国民健康与营养检查调查，涵盖临床体检、生活习惯等多维度真实数据，样本规模庞大，是疾病预测研究的优质数据源。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939800" y="3048000"/>
            <a:ext cx="5016500" cy="2400300"/>
          </a:xfrm>
          <a:prstGeom prst="roundRect">
            <a:avLst>
              <a:gd name="adj" fmla="val 0"/>
            </a:avLst>
          </a:prstGeom>
          <a:solidFill>
            <a:srgbClr val="F7F7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90500" rIns="190500" bIns="19050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核心优势解析：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高维特征：覆盖人口学、临床生化、饮食营养及生活方式等维度，满足复杂模型对特征广度的需求。</a:t>
            </a:r>
            <a:endParaRPr lang="en-US" sz="13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权威真实：由专业机构通过访谈与体检结合采集，经过严格质控，避免了自报数据的偏倚。</a:t>
            </a:r>
            <a:endParaRPr lang="en-US" sz="13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规模效应：持续数十年的追踪与大样本量，为机器学习模型的训练与验证提供了充足数据支撑。</a:t>
            </a:r>
            <a:endParaRPr lang="en-US" sz="13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570" y="48895"/>
            <a:ext cx="5353685" cy="319595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005" y="3646805"/>
            <a:ext cx="5301615" cy="31642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573405" y="539115"/>
            <a:ext cx="40386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自动化采集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748665" y="1943735"/>
            <a:ext cx="5545455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/>
              <a:t>NHANES</a:t>
            </a:r>
            <a:r>
              <a:rPr lang="zh-CN" altLang="en-US" sz="1600">
                <a:ea typeface="宋体" panose="02010600030101010101" pitchFamily="2" charset="-122"/>
              </a:rPr>
              <a:t>项目公开数据集为双层结构，</a:t>
            </a:r>
            <a:endParaRPr lang="zh-CN" altLang="en-US" sz="1600">
              <a:ea typeface="宋体" panose="02010600030101010101" pitchFamily="2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>
                <a:ea typeface="宋体" panose="02010600030101010101" pitchFamily="2" charset="-122"/>
              </a:rPr>
              <a:t>第一层数据主页包含数据类型列表，</a:t>
            </a:r>
            <a:endParaRPr lang="zh-CN" altLang="en-US" sz="1600">
              <a:ea typeface="宋体" panose="02010600030101010101" pitchFamily="2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>
                <a:ea typeface="宋体" panose="02010600030101010101" pitchFamily="2" charset="-122"/>
              </a:rPr>
              <a:t>第二层数据数据类型页包含数据表单下载链接列表。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48665" y="3329940"/>
            <a:ext cx="4064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在采集程序中，</a:t>
            </a:r>
            <a:endParaRPr lang="zh-CN" altLang="en-US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使用字典加列表的常量指定所需数据表单，</a:t>
            </a:r>
            <a:endParaRPr lang="zh-CN" altLang="en-US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字典的键为数据类型名称，</a:t>
            </a:r>
            <a:endParaRPr lang="zh-CN" altLang="en-US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字典的值为包含数据表单名称的列表。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65" y="4387215"/>
            <a:ext cx="12278360" cy="241744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5753100" y="307975"/>
            <a:ext cx="60725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依次完成操作：</a:t>
            </a:r>
            <a:endParaRPr lang="zh-CN" altLang="en-US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爬取数据主页，</a:t>
            </a:r>
            <a:r>
              <a:rPr lang="en-US" altLang="zh-CN">
                <a:ea typeface="宋体" panose="02010600030101010101" pitchFamily="2" charset="-122"/>
              </a:rPr>
              <a:t>bs</a:t>
            </a:r>
            <a:r>
              <a:rPr lang="zh-CN" altLang="en-US">
                <a:ea typeface="宋体" panose="02010600030101010101" pitchFamily="2" charset="-122"/>
              </a:rPr>
              <a:t>解析，通过标签获取类型页链接</a:t>
            </a:r>
            <a:endParaRPr lang="zh-CN" altLang="en-US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爬取类型页，</a:t>
            </a:r>
            <a:r>
              <a:rPr lang="en-US" altLang="zh-CN">
                <a:ea typeface="宋体" panose="02010600030101010101" pitchFamily="2" charset="-122"/>
              </a:rPr>
              <a:t>bs</a:t>
            </a:r>
            <a:r>
              <a:rPr lang="zh-CN" altLang="en-US">
                <a:ea typeface="宋体" panose="02010600030101010101" pitchFamily="2" charset="-122"/>
              </a:rPr>
              <a:t>解析，通过标签获取数据表单下载链接</a:t>
            </a:r>
            <a:endParaRPr lang="zh-CN" altLang="en-US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get</a:t>
            </a:r>
            <a:r>
              <a:rPr lang="zh-CN" altLang="en-US">
                <a:ea typeface="宋体" panose="02010600030101010101" pitchFamily="2" charset="-122"/>
              </a:rPr>
              <a:t>方法获取数据表单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100" y="1990725"/>
            <a:ext cx="5048250" cy="1765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573405" y="424815"/>
            <a:ext cx="40386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筛选与处理</a:t>
            </a:r>
            <a:endParaRPr lang="zh-CN" altLang="en-US" sz="48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60730" y="1830705"/>
            <a:ext cx="406400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由于源数据包含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en-US">
                <a:ea typeface="宋体" panose="02010600030101010101" pitchFamily="2" charset="-122"/>
              </a:rPr>
              <a:t>个类型、数十个表单，</a:t>
            </a:r>
            <a:endParaRPr lang="zh-CN" altLang="en-US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且每个数据表单内包含多个数据字段。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因此需要查看说明文档，人工筛选出</a:t>
            </a:r>
            <a:endParaRPr lang="zh-CN" altLang="en-US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可能对系统有用的字段。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然后编写程序与处理规则，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依次读取</a:t>
            </a:r>
            <a:endParaRPr lang="zh-CN" altLang="en-US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数据表单，将所需字段处理后加入结果集。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520" y="2580005"/>
            <a:ext cx="6078220" cy="362839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612005" y="218122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ea typeface="宋体" panose="02010600030101010101" pitchFamily="2" charset="-122"/>
              </a:rPr>
              <a:t>说明文档：</a:t>
            </a:r>
            <a:endParaRPr lang="zh-CN" altLang="en-US" sz="2000" b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165" y="1086485"/>
            <a:ext cx="8077835" cy="577151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4114165" y="58928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ea typeface="宋体" panose="02010600030101010101" pitchFamily="2" charset="-122"/>
              </a:rPr>
              <a:t>数据处理流程：</a:t>
            </a:r>
            <a:endParaRPr lang="zh-CN" altLang="en-US" sz="2000" b="1">
              <a:ea typeface="宋体" panose="02010600030101010101" pitchFamily="2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8400"/>
            <a:ext cx="3891915" cy="594106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0165" y="0"/>
            <a:ext cx="406400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# 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每个数据项用元组表示，元组内元素分别为</a:t>
            </a:r>
            <a:r>
              <a:rPr lang="en-US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 (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处理后名称，数据项代号</a:t>
            </a:r>
            <a:r>
              <a:rPr lang="en-US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考虑多项时为数组，是否迭代处理</a:t>
            </a:r>
            <a:r>
              <a:rPr lang="en-US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即是否需要将未处理值与处理后目标项共同处理，处理函数</a:t>
            </a:r>
            <a:r>
              <a:rPr lang="en-US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为</a:t>
            </a:r>
            <a:r>
              <a:rPr lang="en-US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None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时无需处理），说明信息</a:t>
            </a: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165" y="31750"/>
            <a:ext cx="8099425" cy="5575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86410" y="227965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同时，为了方便规则编制，使用生成函数代替大量重复规则的编写。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例如，受访者所患疾病分布于多个文件多个字段中，需要逐个编写规则，判断是否患病并将病名添加进患病情况字段。</a:t>
            </a:r>
            <a:endParaRPr lang="zh-CN" altLang="en-US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使用迭代方法，处理结果集中患病情况与源数据集中字段，并将新结果写会。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8200" y="749935"/>
            <a:ext cx="1447800" cy="228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305" y="1050290"/>
            <a:ext cx="1365250" cy="222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272540"/>
            <a:ext cx="2260600" cy="2921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648200" y="22796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ea typeface="宋体" panose="02010600030101010101" pitchFamily="2" charset="-122"/>
              </a:rPr>
              <a:t>三个包含典型病的数据表单，分别内含</a:t>
            </a:r>
            <a:endParaRPr lang="zh-CN" altLang="en-US" sz="1200">
              <a:solidFill>
                <a:schemeClr val="tx1">
                  <a:lumMod val="65000"/>
                  <a:lumOff val="35000"/>
                </a:schemeClr>
              </a:solidFill>
              <a:ea typeface="宋体" panose="02010600030101010101" pitchFamily="2" charset="-122"/>
            </a:endParaRPr>
          </a:p>
          <a:p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ea typeface="宋体" panose="02010600030101010101" pitchFamily="2" charset="-122"/>
              </a:rPr>
              <a:t>糖尿病、口腔相关疾病、肾病</a:t>
            </a:r>
            <a:endParaRPr lang="zh-CN" altLang="en-US" sz="1200">
              <a:solidFill>
                <a:schemeClr val="tx1">
                  <a:lumMod val="65000"/>
                  <a:lumOff val="35000"/>
                </a:schemeClr>
              </a:solidFill>
              <a:ea typeface="宋体" panose="02010600030101010101" pitchFamily="2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640" y="534035"/>
            <a:ext cx="2296160" cy="379666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7564120" y="227965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ea typeface="宋体" panose="02010600030101010101" pitchFamily="2" charset="-122"/>
              </a:rPr>
              <a:t>结果集期望格式：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  <a:ea typeface="宋体" panose="02010600030101010101" pitchFamily="2" charset="-122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305" y="2258060"/>
            <a:ext cx="7252335" cy="32994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7410" y="3429000"/>
            <a:ext cx="4636135" cy="294005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486410" y="5840730"/>
            <a:ext cx="59886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ea typeface="宋体" panose="02010600030101010101" pitchFamily="2" charset="-122"/>
              </a:rPr>
              <a:t>最终产生中间数据集，包含</a:t>
            </a:r>
            <a:r>
              <a:rPr lang="en-US" altLang="zh-CN" sz="1600" b="1">
                <a:ea typeface="宋体" panose="02010600030101010101" pitchFamily="2" charset="-122"/>
              </a:rPr>
              <a:t>67</a:t>
            </a:r>
            <a:r>
              <a:rPr lang="zh-CN" altLang="en-US" sz="1600" b="1">
                <a:ea typeface="宋体" panose="02010600030101010101" pitchFamily="2" charset="-122"/>
              </a:rPr>
              <a:t>个字段与</a:t>
            </a:r>
            <a:r>
              <a:rPr lang="en-US" altLang="zh-CN" sz="1600" b="1">
                <a:ea typeface="宋体" panose="02010600030101010101" pitchFamily="2" charset="-122"/>
              </a:rPr>
              <a:t>8704</a:t>
            </a:r>
            <a:r>
              <a:rPr lang="zh-CN" altLang="en-US" sz="1600" b="1">
                <a:ea typeface="宋体" panose="02010600030101010101" pitchFamily="2" charset="-122"/>
              </a:rPr>
              <a:t>条记录</a:t>
            </a:r>
            <a:endParaRPr lang="zh-CN" altLang="en-US" sz="1600" b="1">
              <a:ea typeface="宋体" panose="02010600030101010101" pitchFamily="2" charset="-122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0840" y="6369050"/>
            <a:ext cx="1162050" cy="2730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5950" y="6307455"/>
            <a:ext cx="149225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573405" y="539115"/>
            <a:ext cx="40386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数据标准化</a:t>
            </a:r>
            <a:endParaRPr lang="zh-CN" altLang="en-US" sz="48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47065" y="1707515"/>
            <a:ext cx="406400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对于筛选与处理阶段产生的中间数据集，所选字段仅主观考虑了对于医疗健康项目的合理性和可能作用，</a:t>
            </a:r>
            <a:endParaRPr lang="zh-CN" altLang="en-US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进一步还需要统计计算其缺失率、平均值等信息，对信息密度过低、无法填充的字段进行取舍，并生成数据标准。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47065" y="3314700"/>
            <a:ext cx="4771390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数据处理规则包括：</a:t>
            </a:r>
            <a:endParaRPr lang="zh-CN" altLang="en-US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、按照规则处理缺失数据：</a:t>
            </a:r>
            <a:endParaRPr lang="zh-CN" altLang="en-US">
              <a:ea typeface="宋体" panose="02010600030101010101" pitchFamily="2" charset="-122"/>
            </a:endParaRPr>
          </a:p>
          <a:p>
            <a:pPr indent="457200"/>
            <a:r>
              <a:rPr lang="zh-CN" altLang="en-US">
                <a:ea typeface="宋体" panose="02010600030101010101" pitchFamily="2" charset="-122"/>
              </a:rPr>
              <a:t>计算字段缺失率，如果超过规则中容许值，删除字段</a:t>
            </a:r>
            <a:endParaRPr lang="zh-CN" altLang="en-US">
              <a:ea typeface="宋体" panose="02010600030101010101" pitchFamily="2" charset="-122"/>
            </a:endParaRPr>
          </a:p>
          <a:p>
            <a:pPr indent="457200"/>
            <a:r>
              <a:rPr lang="zh-CN" altLang="en-US">
                <a:ea typeface="宋体" panose="02010600030101010101" pitchFamily="2" charset="-122"/>
              </a:rPr>
              <a:t>搜索遍历必需字段，对于该字段缺失的记录进行删除、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、计算数据平均值，根据数据类型舍入标准值</a:t>
            </a:r>
            <a:endParaRPr lang="zh-CN" altLang="en-US">
              <a:ea typeface="宋体" panose="02010600030101010101" pitchFamily="2" charset="-122"/>
            </a:endParaRPr>
          </a:p>
          <a:p>
            <a:pPr indent="457200"/>
            <a:r>
              <a:rPr lang="zh-CN" altLang="en-US">
                <a:ea typeface="宋体" panose="02010600030101010101" pitchFamily="2" charset="-122"/>
              </a:rPr>
              <a:t>例如对</a:t>
            </a:r>
            <a:r>
              <a:rPr lang="en-US" altLang="zh-CN">
                <a:ea typeface="宋体" panose="02010600030101010101" pitchFamily="2" charset="-122"/>
              </a:rPr>
              <a:t> int </a:t>
            </a:r>
            <a:r>
              <a:rPr lang="zh-CN" altLang="en-US">
                <a:ea typeface="宋体" panose="02010600030101010101" pitchFamily="2" charset="-122"/>
              </a:rPr>
              <a:t>字段进行整数舍入</a:t>
            </a:r>
            <a:endParaRPr lang="zh-CN" altLang="en-US">
              <a:ea typeface="宋体" panose="02010600030101010101" pitchFamily="2" charset="-122"/>
            </a:endParaRPr>
          </a:p>
          <a:p>
            <a:pPr indent="457200"/>
            <a:r>
              <a:rPr lang="zh-CN" altLang="en-US">
                <a:ea typeface="宋体" panose="02010600030101010101" pitchFamily="2" charset="-122"/>
              </a:rPr>
              <a:t>对</a:t>
            </a:r>
            <a:r>
              <a:rPr lang="en-US" altLang="zh-CN">
                <a:ea typeface="宋体" panose="02010600030101010101" pitchFamily="2" charset="-122"/>
              </a:rPr>
              <a:t> bool </a:t>
            </a:r>
            <a:r>
              <a:rPr lang="zh-CN" altLang="en-US">
                <a:ea typeface="宋体" panose="02010600030101010101" pitchFamily="2" charset="-122"/>
              </a:rPr>
              <a:t>字段进行</a:t>
            </a:r>
            <a:r>
              <a:rPr lang="en-US" altLang="zh-CN">
                <a:ea typeface="宋体" panose="02010600030101010101" pitchFamily="2" charset="-122"/>
              </a:rPr>
              <a:t> 1 / 2 </a:t>
            </a:r>
            <a:r>
              <a:rPr lang="zh-CN" altLang="en-US">
                <a:ea typeface="宋体" panose="02010600030101010101" pitchFamily="2" charset="-122"/>
              </a:rPr>
              <a:t>判断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190" y="842010"/>
            <a:ext cx="6480810" cy="5173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97485" y="285750"/>
            <a:ext cx="1224407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数据标准化处理规则：</a:t>
            </a:r>
            <a:endParaRPr lang="zh-CN" altLang="en-US">
              <a:ea typeface="宋体" panose="02010600030101010101" pitchFamily="2" charset="-122"/>
            </a:endParaRPr>
          </a:p>
          <a:p>
            <a:r>
              <a:rPr lang="en-US" altLang="en-US">
                <a:solidFill>
                  <a:schemeClr val="accent6"/>
                </a:solidFill>
                <a:ea typeface="宋体" panose="02010600030101010101" pitchFamily="2" charset="-122"/>
              </a:rPr>
              <a:t>'BMI</a:t>
            </a:r>
            <a:r>
              <a:rPr lang="zh-CN" altLang="en-US">
                <a:solidFill>
                  <a:schemeClr val="accent6"/>
                </a:solidFill>
                <a:ea typeface="宋体" panose="02010600030101010101" pitchFamily="2" charset="-122"/>
              </a:rPr>
              <a:t>（</a:t>
            </a:r>
            <a:r>
              <a:rPr lang="en-US" altLang="en-US">
                <a:solidFill>
                  <a:schemeClr val="accent6"/>
                </a:solidFill>
                <a:ea typeface="宋体" panose="02010600030101010101" pitchFamily="2" charset="-122"/>
              </a:rPr>
              <a:t>kg/m²</a:t>
            </a:r>
            <a:r>
              <a:rPr lang="zh-CN" altLang="en-US">
                <a:solidFill>
                  <a:schemeClr val="accent6"/>
                </a:solidFill>
                <a:ea typeface="宋体" panose="02010600030101010101" pitchFamily="2" charset="-122"/>
              </a:rPr>
              <a:t>）</a:t>
            </a:r>
            <a:r>
              <a:rPr lang="en-US" altLang="en-US">
                <a:solidFill>
                  <a:schemeClr val="accent6"/>
                </a:solidFill>
                <a:ea typeface="宋体" panose="02010600030101010101" pitchFamily="2" charset="-122"/>
              </a:rPr>
              <a:t>':{'type': 'float'  , 'tolerance': 1.1 , 'necessary': True , 'function': (['</a:t>
            </a:r>
            <a:r>
              <a:rPr lang="zh-CN" altLang="en-US">
                <a:solidFill>
                  <a:schemeClr val="accent6"/>
                </a:solidFill>
                <a:ea typeface="宋体" panose="02010600030101010101" pitchFamily="2" charset="-122"/>
              </a:rPr>
              <a:t>体重（</a:t>
            </a:r>
            <a:r>
              <a:rPr lang="en-US" altLang="en-US">
                <a:solidFill>
                  <a:schemeClr val="accent6"/>
                </a:solidFill>
                <a:ea typeface="宋体" panose="02010600030101010101" pitchFamily="2" charset="-122"/>
              </a:rPr>
              <a:t>kg</a:t>
            </a:r>
            <a:r>
              <a:rPr lang="zh-CN" altLang="en-US">
                <a:solidFill>
                  <a:schemeClr val="accent6"/>
                </a:solidFill>
                <a:ea typeface="宋体" panose="02010600030101010101" pitchFamily="2" charset="-122"/>
              </a:rPr>
              <a:t>）</a:t>
            </a:r>
            <a:r>
              <a:rPr lang="en-US" altLang="en-US">
                <a:solidFill>
                  <a:schemeClr val="accent6"/>
                </a:solidFill>
                <a:ea typeface="宋体" panose="02010600030101010101" pitchFamily="2" charset="-122"/>
              </a:rPr>
              <a:t>' , '</a:t>
            </a:r>
            <a:r>
              <a:rPr lang="zh-CN" altLang="en-US">
                <a:solidFill>
                  <a:schemeClr val="accent6"/>
                </a:solidFill>
                <a:ea typeface="宋体" panose="02010600030101010101" pitchFamily="2" charset="-122"/>
              </a:rPr>
              <a:t>身高（</a:t>
            </a:r>
            <a:r>
              <a:rPr lang="en-US" altLang="en-US">
                <a:solidFill>
                  <a:schemeClr val="accent6"/>
                </a:solidFill>
                <a:ea typeface="宋体" panose="02010600030101010101" pitchFamily="2" charset="-122"/>
              </a:rPr>
              <a:t>cm</a:t>
            </a:r>
            <a:r>
              <a:rPr lang="zh-CN" altLang="en-US">
                <a:solidFill>
                  <a:schemeClr val="accent6"/>
                </a:solidFill>
                <a:ea typeface="宋体" panose="02010600030101010101" pitchFamily="2" charset="-122"/>
              </a:rPr>
              <a:t>）</a:t>
            </a:r>
            <a:r>
              <a:rPr lang="en-US" altLang="en-US">
                <a:solidFill>
                  <a:schemeClr val="accent6"/>
                </a:solidFill>
                <a:ea typeface="宋体" panose="02010600030101010101" pitchFamily="2" charset="-122"/>
              </a:rPr>
              <a:t>'] , lambda x , y: x / y / y * 10000)},</a:t>
            </a:r>
            <a:endParaRPr lang="en-US" altLang="en-US">
              <a:solidFill>
                <a:schemeClr val="accent6"/>
              </a:solidFill>
              <a:ea typeface="宋体" panose="02010600030101010101" pitchFamily="2" charset="-122"/>
            </a:endParaRPr>
          </a:p>
          <a:p>
            <a:r>
              <a:rPr lang="en-US" altLang="en-US">
                <a:solidFill>
                  <a:schemeClr val="accent6"/>
                </a:solidFill>
                <a:ea typeface="宋体" panose="02010600030101010101" pitchFamily="2" charset="-122"/>
              </a:rPr>
              <a:t>    </a:t>
            </a:r>
            <a:endParaRPr lang="en-US" altLang="en-US">
              <a:solidFill>
                <a:schemeClr val="accent6"/>
              </a:solidFill>
              <a:ea typeface="宋体" panose="02010600030101010101" pitchFamily="2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415415" y="90868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类型：浮点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719580" y="12255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缺失容许：</a:t>
            </a:r>
            <a:r>
              <a:rPr lang="en-US" altLang="zh-CN">
                <a:ea typeface="宋体" panose="02010600030101010101" pitchFamily="2" charset="-122"/>
              </a:rPr>
              <a:t>1.1</a:t>
            </a:r>
            <a:r>
              <a:rPr lang="zh-CN" altLang="en-US">
                <a:ea typeface="宋体" panose="02010600030101010101" pitchFamily="2" charset="-122"/>
              </a:rPr>
              <a:t>（即</a:t>
            </a:r>
            <a:r>
              <a:rPr lang="en-US" altLang="zh-CN">
                <a:ea typeface="宋体" panose="02010600030101010101" pitchFamily="2" charset="-122"/>
              </a:rPr>
              <a:t>110%</a:t>
            </a:r>
            <a:r>
              <a:rPr lang="zh-CN" altLang="en-US">
                <a:ea typeface="宋体" panose="02010600030101010101" pitchFamily="2" charset="-122"/>
              </a:rPr>
              <a:t>，永远容许）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064000" y="90868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必需：是</a:t>
            </a:r>
            <a:endParaRPr lang="zh-CN" altLang="en-US">
              <a:ea typeface="宋体" panose="02010600030101010101" pitchFamily="2" charset="-122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173095" y="361315"/>
            <a:ext cx="7620" cy="2279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939925" y="787400"/>
            <a:ext cx="7620" cy="1898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6247765" y="90868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填补规则：使用体重、身高字段数值进行计算</a:t>
            </a:r>
            <a:endParaRPr lang="zh-CN" altLang="en-US">
              <a:ea typeface="宋体" panose="02010600030101010101" pitchFamily="2" charset="-122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558030" y="840740"/>
            <a:ext cx="0" cy="136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7800340" y="772160"/>
            <a:ext cx="30480" cy="2432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485" y="1879600"/>
            <a:ext cx="6368415" cy="192214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" y="4465955"/>
            <a:ext cx="7517765" cy="133604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405" y="2060575"/>
            <a:ext cx="5179060" cy="4380230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356870" y="148717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删除空缺字段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280670" y="413575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删除必需字段空缺记录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7039610" y="158623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计算标准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65125" y="35433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最终生成数据集完整、信息密度高，格式标准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845" y="783590"/>
            <a:ext cx="5387975" cy="392176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146800" y="26162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同时，根据编制的分类规则，将标准化后的剩余字段进行分类，编制数据标准文档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800" y="783590"/>
            <a:ext cx="3808095" cy="573214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87350" y="505714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最终数据集包含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41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个字段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与</a:t>
            </a:r>
            <a:r>
              <a:rPr lang="en-US" altLang="zh-CN">
                <a:ea typeface="宋体" panose="02010600030101010101" pitchFamily="2" charset="-122"/>
              </a:rPr>
              <a:t>8005</a:t>
            </a:r>
            <a:r>
              <a:rPr lang="zh-CN" altLang="en-US">
                <a:ea typeface="宋体" panose="02010600030101010101" pitchFamily="2" charset="-122"/>
              </a:rPr>
              <a:t>条记录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143635" y="595630"/>
            <a:ext cx="3175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>
                    <a:alpha val="69804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</a:t>
            </a:r>
            <a:endParaRPr lang="en-US" sz="3200" b="1"/>
          </a:p>
        </p:txBody>
      </p:sp>
      <p:sp>
        <p:nvSpPr>
          <p:cNvPr id="9" name="AutoShape 9"/>
          <p:cNvSpPr/>
          <p:nvPr>
            <p:custDataLst>
              <p:tags r:id="rId2"/>
            </p:custDataLst>
          </p:nvPr>
        </p:nvSpPr>
        <p:spPr>
          <a:xfrm>
            <a:off x="2141855" y="1464945"/>
            <a:ext cx="7908290" cy="411988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90500" rIns="190500" bIns="19050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zh-CN" alt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专业优化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17000"/>
              </a:lnSpc>
              <a:defRPr/>
            </a:pPr>
            <a:r>
              <a:rPr lang="en-US" sz="13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结合医疗健康</a:t>
            </a:r>
            <a:r>
              <a:rPr lang="zh-CN" altLang="en-US" sz="13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领域专业知识，对数据与疾病进行合理分类，更好地关联疾病与危险因素。使用业界内指标标准值，消除普遍误差，使致病原因追溯更准确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算法升级：</a:t>
            </a:r>
            <a:endParaRPr lang="en-US" sz="13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zh-CN" alt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分析数据特征影响度，调试优化参数；对不同类型数据使用不同模型进行合成学习，人工确定关键特征，提高关键数据权重</a:t>
            </a:r>
            <a:endParaRPr lang="zh-CN" alt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临床落地：</a:t>
            </a:r>
            <a:endParaRPr lang="en-US" sz="13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zh-CN" alt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结合自然语言处理与临床诊疗记录，为用户进一步生成详细的健康建议</a:t>
            </a:r>
            <a:endParaRPr lang="zh-CN" alt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800" y="520700"/>
            <a:ext cx="4699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8000" b="1" i="0" u="none" strike="noStrike">
                <a:solidFill>
                  <a:srgbClr val="2B2F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</a:t>
            </a:r>
            <a:endParaRPr lang="en-US" sz="1100"/>
          </a:p>
          <a:p>
            <a:pPr marL="0" indent="0" algn="l">
              <a:lnSpc>
                <a:spcPct val="83000"/>
              </a:lnSpc>
            </a:pPr>
            <a:r>
              <a:rPr lang="en-US" sz="8000" b="1" i="0" u="none" strike="noStrike">
                <a:solidFill>
                  <a:srgbClr val="2B2F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YOU</a:t>
            </a:r>
            <a:endParaRPr lang="en-US" sz="8000" b="1" i="0" u="none" strike="noStrike">
              <a:solidFill>
                <a:srgbClr val="2B2F3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85800" y="3683000"/>
            <a:ext cx="609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2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</a:t>
            </a:r>
            <a:r>
              <a:rPr lang="en-US" sz="2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各位老师</a:t>
            </a:r>
            <a:r>
              <a:rPr lang="zh-CN" altLang="en-US" sz="2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聆听与</a:t>
            </a:r>
            <a:r>
              <a:rPr lang="en-US" sz="2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批评指正</a:t>
            </a:r>
            <a:endParaRPr lang="zh-CN" altLang="en-US" sz="2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85800" y="5473700"/>
            <a:ext cx="41275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000" b="1" i="0" u="none" strike="noStrike">
                <a:solidFill>
                  <a:srgbClr val="2B2F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07300" y="520700"/>
            <a:ext cx="495300" cy="5816600"/>
          </a:xfrm>
          <a:prstGeom prst="roundRect">
            <a:avLst>
              <a:gd name="adj" fmla="val 0"/>
            </a:avLst>
          </a:prstGeom>
          <a:solidFill>
            <a:srgbClr val="2B2F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l="1310" r="39737"/>
          <a:stretch>
            <a:fillRect/>
          </a:stretch>
        </p:blipFill>
        <p:spPr>
          <a:xfrm>
            <a:off x="8102600" y="520700"/>
            <a:ext cx="3429000" cy="5816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37.7,&quot;left&quot;:389,&quot;top&quot;:56.35,&quot;width&quot;:528}"/>
</p:tagLst>
</file>

<file path=ppt/tags/tag2.xml><?xml version="1.0" encoding="utf-8"?>
<p:tagLst xmlns:p="http://schemas.openxmlformats.org/presentationml/2006/main">
  <p:tag name="KSO_WM_DIAGRAM_VIRTUALLY_FRAME" val="{&quot;height&quot;:437.7,&quot;left&quot;:389,&quot;top&quot;:56.35,&quot;width&quot;:528}"/>
</p:tagLst>
</file>

<file path=ppt/tags/tag3.xml><?xml version="1.0" encoding="utf-8"?>
<p:tagLst xmlns:p="http://schemas.openxmlformats.org/presentationml/2006/main">
  <p:tag name="KSO_WM_DIAGRAM_VIRTUALLY_FRAME" val="{&quot;height&quot;:437.7,&quot;left&quot;:389,&quot;top&quot;:56.35,&quot;width&quot;:528}"/>
</p:tagLst>
</file>

<file path=ppt/tags/tag4.xml><?xml version="1.0" encoding="utf-8"?>
<p:tagLst xmlns:p="http://schemas.openxmlformats.org/presentationml/2006/main">
  <p:tag name="KSO_WM_DIAGRAM_VIRTUALLY_FRAME" val="{&quot;height&quot;:437.7,&quot;left&quot;:389,&quot;top&quot;:56.35,&quot;width&quot;:528}"/>
</p:tagLst>
</file>

<file path=ppt/tags/tag5.xml><?xml version="1.0" encoding="utf-8"?>
<p:tagLst xmlns:p="http://schemas.openxmlformats.org/presentationml/2006/main">
  <p:tag name="KSO_WM_DIAGRAM_VIRTUALLY_FRAME" val="{&quot;height&quot;:437.7,&quot;left&quot;:389,&quot;top&quot;:56.35,&quot;width&quot;:528}"/>
</p:tagLst>
</file>

<file path=ppt/tags/tag6.xml><?xml version="1.0" encoding="utf-8"?>
<p:tagLst xmlns:p="http://schemas.openxmlformats.org/presentationml/2006/main">
  <p:tag name="KSO_WM_DIAGRAM_VIRTUALLY_FRAME" val="{&quot;height&quot;:437.7,&quot;left&quot;:389,&quot;top&quot;:56.35,&quot;width&quot;:528}"/>
</p:tagLst>
</file>

<file path=ppt/tags/tag7.xml><?xml version="1.0" encoding="utf-8"?>
<p:tagLst xmlns:p="http://schemas.openxmlformats.org/presentationml/2006/main">
  <p:tag name="KSO_WM_DIAGRAM_VIRTUALLY_FRAME" val="{&quot;height&quot;:393.3,&quot;left&quot;:389,&quot;top&quot;:19,&quot;width&quot;:528}"/>
</p:tagLst>
</file>

<file path=ppt/tags/tag8.xml><?xml version="1.0" encoding="utf-8"?>
<p:tagLst xmlns:p="http://schemas.openxmlformats.org/presentationml/2006/main">
  <p:tag name="KSO_WM_DIAGRAM_VIRTUALLY_FRAME" val="{&quot;height&quot;:437.7,&quot;left&quot;:389,&quot;top&quot;:56.35,&quot;width&quot;:528}"/>
</p:tagLst>
</file>

<file path=ppt/tags/tag9.xml><?xml version="1.0" encoding="utf-8"?>
<p:tagLst xmlns:p="http://schemas.openxmlformats.org/presentationml/2006/main">
  <p:tag name="KSO_WM_DIAGRAM_VIRTUALLY_FRAME" val="{&quot;height&quot;:437.7,&quot;left&quot;:389,&quot;top&quot;:56.35,&quot;width&quot;:528}"/>
</p:tagLst>
</file>

<file path=ppt/tags/tag10.xml><?xml version="1.0" encoding="utf-8"?>
<p:tagLst xmlns:p="http://schemas.openxmlformats.org/presentationml/2006/main">
  <p:tag name="KSO_WM_DIAGRAM_VIRTUALLY_FRAME" val="{&quot;height&quot;:437.7,&quot;left&quot;:389,&quot;top&quot;:56.35,&quot;width&quot;:528}"/>
</p:tagLst>
</file>

<file path=ppt/tags/tag11.xml><?xml version="1.0" encoding="utf-8"?>
<p:tagLst xmlns:p="http://schemas.openxmlformats.org/presentationml/2006/main">
  <p:tag name="KSO_WM_DIAGRAM_VIRTUALLY_FRAME" val="{&quot;height&quot;:437.7,&quot;left&quot;:389,&quot;top&quot;:56.35,&quot;width&quot;:528}"/>
</p:tagLst>
</file>

<file path=ppt/tags/tag12.xml><?xml version="1.0" encoding="utf-8"?>
<p:tagLst xmlns:p="http://schemas.openxmlformats.org/presentationml/2006/main">
  <p:tag name="KSO_WM_DIAGRAM_VIRTUALLY_FRAME" val="{&quot;height&quot;:437.7,&quot;left&quot;:389,&quot;top&quot;:56.35,&quot;width&quot;:528}"/>
</p:tagLst>
</file>

<file path=ppt/tags/tag13.xml><?xml version="1.0" encoding="utf-8"?>
<p:tagLst xmlns:p="http://schemas.openxmlformats.org/presentationml/2006/main">
  <p:tag name="KSO_WM_DIAGRAM_VIRTUALLY_FRAME" val="{&quot;height&quot;:437.7,&quot;left&quot;:389,&quot;top&quot;:56.35,&quot;width&quot;:528}"/>
</p:tagLst>
</file>

<file path=ppt/tags/tag14.xml><?xml version="1.0" encoding="utf-8"?>
<p:tagLst xmlns:p="http://schemas.openxmlformats.org/presentationml/2006/main">
  <p:tag name="KSO_WM_DIAGRAM_VIRTUALLY_FRAME" val="{&quot;height&quot;:437.7,&quot;left&quot;:389,&quot;top&quot;:56.35,&quot;width&quot;:528}"/>
</p:tagLst>
</file>

<file path=ppt/tags/tag15.xml><?xml version="1.0" encoding="utf-8"?>
<p:tagLst xmlns:p="http://schemas.openxmlformats.org/presentationml/2006/main">
  <p:tag name="KSO_WM_DIAGRAM_VIRTUALLY_FRAME" val="{&quot;height&quot;:437.7,&quot;left&quot;:389,&quot;top&quot;:56.35,&quot;width&quot;:528}"/>
</p:tagLst>
</file>

<file path=ppt/tags/tag16.xml><?xml version="1.0" encoding="utf-8"?>
<p:tagLst xmlns:p="http://schemas.openxmlformats.org/presentationml/2006/main">
  <p:tag name="KSO_WM_DIAGRAM_VIRTUALLY_FRAME" val="{&quot;height&quot;:437.7,&quot;left&quot;:389,&quot;top&quot;:56.35,&quot;width&quot;:528}"/>
</p:tagLst>
</file>

<file path=ppt/tags/tag17.xml><?xml version="1.0" encoding="utf-8"?>
<p:tagLst xmlns:p="http://schemas.openxmlformats.org/presentationml/2006/main">
  <p:tag name="KSO_WM_DIAGRAM_VIRTUALLY_FRAME" val="{&quot;height&quot;:270,&quot;left&quot;:81,&quot;top&quot;:172,&quot;width&quot;:798}"/>
</p:tagLst>
</file>

<file path=ppt/tags/tag18.xml><?xml version="1.0" encoding="utf-8"?>
<p:tagLst xmlns:p="http://schemas.openxmlformats.org/presentationml/2006/main">
  <p:tag name="KSO_WM_DIAGRAM_VIRTUALLY_FRAME" val="{&quot;height&quot;:270,&quot;left&quot;:81,&quot;top&quot;:172,&quot;width&quot;:798}"/>
</p:tagLst>
</file>

<file path=ppt/tags/tag19.xml><?xml version="1.0" encoding="utf-8"?>
<p:tagLst xmlns:p="http://schemas.openxmlformats.org/presentationml/2006/main">
  <p:tag name="KSO_WM_DIAGRAM_VIRTUALLY_FRAME" val="{&quot;height&quot;:270,&quot;left&quot;:81,&quot;top&quot;:172,&quot;width&quot;:798}"/>
</p:tagLst>
</file>

<file path=ppt/tags/tag20.xml><?xml version="1.0" encoding="utf-8"?>
<p:tagLst xmlns:p="http://schemas.openxmlformats.org/presentationml/2006/main">
  <p:tag name="KSO_WM_DIAGRAM_VIRTUALLY_FRAME" val="{&quot;height&quot;:270,&quot;left&quot;:81,&quot;top&quot;:172,&quot;width&quot;:798}"/>
</p:tagLst>
</file>

<file path=ppt/tags/tag21.xml><?xml version="1.0" encoding="utf-8"?>
<p:tagLst xmlns:p="http://schemas.openxmlformats.org/presentationml/2006/main">
  <p:tag name="KSO_WM_DIAGRAM_VIRTUALLY_FRAME" val="{&quot;height&quot;:270,&quot;left&quot;:81,&quot;top&quot;:172,&quot;width&quot;:798}"/>
</p:tagLst>
</file>

<file path=ppt/tags/tag22.xml><?xml version="1.0" encoding="utf-8"?>
<p:tagLst xmlns:p="http://schemas.openxmlformats.org/presentationml/2006/main">
  <p:tag name="KSO_WM_DIAGRAM_VIRTUALLY_FRAME" val="{&quot;height&quot;:270,&quot;left&quot;:81,&quot;top&quot;:172,&quot;width&quot;:798}"/>
</p:tagLst>
</file>

<file path=ppt/tags/tag23.xml><?xml version="1.0" encoding="utf-8"?>
<p:tagLst xmlns:p="http://schemas.openxmlformats.org/presentationml/2006/main">
  <p:tag name="KSO_WM_DIAGRAM_VIRTUALLY_FRAME" val="{&quot;height&quot;:270,&quot;left&quot;:81,&quot;top&quot;:172,&quot;width&quot;:798}"/>
</p:tagLst>
</file>

<file path=ppt/tags/tag24.xml><?xml version="1.0" encoding="utf-8"?>
<p:tagLst xmlns:p="http://schemas.openxmlformats.org/presentationml/2006/main">
  <p:tag name="KSO_WM_DIAGRAM_VIRTUALLY_FRAME" val="{&quot;height&quot;:270,&quot;left&quot;:81,&quot;top&quot;:172,&quot;width&quot;:798}"/>
</p:tagLst>
</file>

<file path=ppt/tags/tag25.xml><?xml version="1.0" encoding="utf-8"?>
<p:tagLst xmlns:p="http://schemas.openxmlformats.org/presentationml/2006/main">
  <p:tag name="KSO_WM_DIAGRAM_VIRTUALLY_FRAME" val="{&quot;height&quot;:270,&quot;left&quot;:81,&quot;top&quot;:172,&quot;width&quot;:798}"/>
</p:tagLst>
</file>

<file path=ppt/tags/tag26.xml><?xml version="1.0" encoding="utf-8"?>
<p:tagLst xmlns:p="http://schemas.openxmlformats.org/presentationml/2006/main">
  <p:tag name="KSO_WM_DIAGRAM_VIRTUALLY_FRAME" val="{&quot;height&quot;:270,&quot;left&quot;:81,&quot;top&quot;:172,&quot;width&quot;:798}"/>
</p:tagLst>
</file>

<file path=ppt/tags/tag27.xml><?xml version="1.0" encoding="utf-8"?>
<p:tagLst xmlns:p="http://schemas.openxmlformats.org/presentationml/2006/main">
  <p:tag name="KSO_WM_DIAGRAM_VIRTUALLY_FRAME" val="{&quot;height&quot;:270,&quot;left&quot;:81,&quot;top&quot;:172,&quot;width&quot;:798}"/>
</p:tagLst>
</file>

<file path=ppt/tags/tag28.xml><?xml version="1.0" encoding="utf-8"?>
<p:tagLst xmlns:p="http://schemas.openxmlformats.org/presentationml/2006/main">
  <p:tag name="KSO_WM_DIAGRAM_VIRTUALLY_FRAME" val="{&quot;height&quot;:270,&quot;left&quot;:81,&quot;top&quot;:172,&quot;width&quot;:798}"/>
</p:tagLst>
</file>

<file path=ppt/tags/tag29.xml><?xml version="1.0" encoding="utf-8"?>
<p:tagLst xmlns:p="http://schemas.openxmlformats.org/presentationml/2006/main">
  <p:tag name="KSO_WM_DIAGRAM_VIRTUALLY_FRAME" val="{&quot;height&quot;:315.2,&quot;left&quot;:442.35,&quot;top&quot;:225.45,&quot;width&quot;:481.25}"/>
</p:tagLst>
</file>

<file path=ppt/tags/tag30.xml><?xml version="1.0" encoding="utf-8"?>
<p:tagLst xmlns:p="http://schemas.openxmlformats.org/presentationml/2006/main">
  <p:tag name="KSO_WM_DIAGRAM_VIRTUALLY_FRAME" val="{&quot;height&quot;:315.2,&quot;left&quot;:442.35,&quot;top&quot;:225.45,&quot;width&quot;:481.25}"/>
</p:tagLst>
</file>

<file path=ppt/tags/tag31.xml><?xml version="1.0" encoding="utf-8"?>
<p:tagLst xmlns:p="http://schemas.openxmlformats.org/presentationml/2006/main">
  <p:tag name="KSO_WM_DIAGRAM_VIRTUALLY_FRAME" val="{&quot;height&quot;:315.2,&quot;left&quot;:442.35,&quot;top&quot;:225.45,&quot;width&quot;:481.25}"/>
</p:tagLst>
</file>

<file path=ppt/tags/tag32.xml><?xml version="1.0" encoding="utf-8"?>
<p:tagLst xmlns:p="http://schemas.openxmlformats.org/presentationml/2006/main">
  <p:tag name="KSO_WM_DIAGRAM_VIRTUALLY_FRAME" val="{&quot;height&quot;:315.2,&quot;left&quot;:442.35,&quot;top&quot;:225.45,&quot;width&quot;:481.25}"/>
</p:tagLst>
</file>

<file path=ppt/tags/tag33.xml><?xml version="1.0" encoding="utf-8"?>
<p:tagLst xmlns:p="http://schemas.openxmlformats.org/presentationml/2006/main">
  <p:tag name="KSO_WM_DIAGRAM_VIRTUALLY_FRAME" val="{&quot;height&quot;:315.2,&quot;left&quot;:442.35,&quot;top&quot;:225.45,&quot;width&quot;:481.25}"/>
</p:tagLst>
</file>

<file path=ppt/tags/tag34.xml><?xml version="1.0" encoding="utf-8"?>
<p:tagLst xmlns:p="http://schemas.openxmlformats.org/presentationml/2006/main">
  <p:tag name="KSO_WM_DIAGRAM_VIRTUALLY_FRAME" val="{&quot;height&quot;:315.2,&quot;left&quot;:442.35,&quot;top&quot;:225.45,&quot;width&quot;:481.25}"/>
</p:tagLst>
</file>

<file path=ppt/tags/tag35.xml><?xml version="1.0" encoding="utf-8"?>
<p:tagLst xmlns:p="http://schemas.openxmlformats.org/presentationml/2006/main">
  <p:tag name="KSO_WM_DIAGRAM_VIRTUALLY_FRAME" val="{&quot;height&quot;:315.2,&quot;left&quot;:442.35,&quot;top&quot;:225.45,&quot;width&quot;:481.25}"/>
</p:tagLst>
</file>

<file path=ppt/tags/tag36.xml><?xml version="1.0" encoding="utf-8"?>
<p:tagLst xmlns:p="http://schemas.openxmlformats.org/presentationml/2006/main">
  <p:tag name="KSO_WM_DIAGRAM_VIRTUALLY_FRAME" val="{&quot;height&quot;:315.2,&quot;left&quot;:442.35,&quot;top&quot;:225.45,&quot;width&quot;:481.25}"/>
</p:tagLst>
</file>

<file path=ppt/tags/tag37.xml><?xml version="1.0" encoding="utf-8"?>
<p:tagLst xmlns:p="http://schemas.openxmlformats.org/presentationml/2006/main">
  <p:tag name="KSO_WM_DIAGRAM_VIRTUALLY_FRAME" val="{&quot;height&quot;:341,&quot;left&quot;:390,&quot;top&quot;:102,&quot;width&quot;:521}"/>
</p:tagLst>
</file>

<file path=ppt/tags/tag38.xml><?xml version="1.0" encoding="utf-8"?>
<p:tagLst xmlns:p="http://schemas.openxmlformats.org/presentationml/2006/main">
  <p:tag name="KSO_WM_DIAGRAM_VIRTUALLY_FRAME" val="{&quot;height&quot;:341,&quot;left&quot;:390,&quot;top&quot;:102,&quot;width&quot;:521}"/>
</p:tagLst>
</file>

<file path=ppt/tags/tag39.xml><?xml version="1.0" encoding="utf-8"?>
<p:tagLst xmlns:p="http://schemas.openxmlformats.org/presentationml/2006/main">
  <p:tag name="KSO_WM_DIAGRAM_VIRTUALLY_FRAME" val="{&quot;height&quot;:341,&quot;left&quot;:390,&quot;top&quot;:102,&quot;width&quot;:521}"/>
</p:tagLst>
</file>

<file path=ppt/tags/tag40.xml><?xml version="1.0" encoding="utf-8"?>
<p:tagLst xmlns:p="http://schemas.openxmlformats.org/presentationml/2006/main">
  <p:tag name="KSO_WM_DIAGRAM_VIRTUALLY_FRAME" val="{&quot;height&quot;:341,&quot;left&quot;:390,&quot;top&quot;:102,&quot;width&quot;:521}"/>
</p:tagLst>
</file>

<file path=ppt/tags/tag41.xml><?xml version="1.0" encoding="utf-8"?>
<p:tagLst xmlns:p="http://schemas.openxmlformats.org/presentationml/2006/main">
  <p:tag name="KSO_WM_DIAGRAM_VIRTUALLY_FRAME" val="{&quot;height&quot;:341,&quot;left&quot;:390,&quot;top&quot;:102,&quot;width&quot;:521}"/>
</p:tagLst>
</file>

<file path=ppt/tags/tag42.xml><?xml version="1.0" encoding="utf-8"?>
<p:tagLst xmlns:p="http://schemas.openxmlformats.org/presentationml/2006/main">
  <p:tag name="KSO_WM_DIAGRAM_VIRTUALLY_FRAME" val="{&quot;height&quot;:341,&quot;left&quot;:390,&quot;top&quot;:102,&quot;width&quot;:521}"/>
</p:tagLst>
</file>

<file path=ppt/tags/tag43.xml><?xml version="1.0" encoding="utf-8"?>
<p:tagLst xmlns:p="http://schemas.openxmlformats.org/presentationml/2006/main">
  <p:tag name="KSO_WM_DIAGRAM_VIRTUALLY_FRAME" val="{&quot;height&quot;:341,&quot;left&quot;:390,&quot;top&quot;:102,&quot;width&quot;:521}"/>
</p:tagLst>
</file>

<file path=ppt/tags/tag44.xml><?xml version="1.0" encoding="utf-8"?>
<p:tagLst xmlns:p="http://schemas.openxmlformats.org/presentationml/2006/main">
  <p:tag name="KSO_WM_DIAGRAM_VIRTUALLY_FRAME" val="{&quot;height&quot;:341,&quot;left&quot;:390,&quot;top&quot;:102,&quot;width&quot;:521}"/>
</p:tagLst>
</file>

<file path=ppt/tags/tag45.xml><?xml version="1.0" encoding="utf-8"?>
<p:tagLst xmlns:p="http://schemas.openxmlformats.org/presentationml/2006/main">
  <p:tag name="KSO_WM_DIAGRAM_VIRTUALLY_FRAME" val="{&quot;height&quot;:341,&quot;left&quot;:390,&quot;top&quot;:102,&quot;width&quot;:521}"/>
</p:tagLst>
</file>

<file path=ppt/tags/tag46.xml><?xml version="1.0" encoding="utf-8"?>
<p:tagLst xmlns:p="http://schemas.openxmlformats.org/presentationml/2006/main">
  <p:tag name="KSO_WM_DIAGRAM_VIRTUALLY_FRAME" val="{&quot;height&quot;:341,&quot;left&quot;:390,&quot;top&quot;:102,&quot;width&quot;:521}"/>
</p:tagLst>
</file>

<file path=ppt/tags/tag47.xml><?xml version="1.0" encoding="utf-8"?>
<p:tagLst xmlns:p="http://schemas.openxmlformats.org/presentationml/2006/main">
  <p:tag name="KSO_WM_DIAGRAM_VIRTUALLY_FRAME" val="{&quot;height&quot;:341,&quot;left&quot;:390,&quot;top&quot;:102,&quot;width&quot;:521}"/>
</p:tagLst>
</file>

<file path=ppt/tags/tag48.xml><?xml version="1.0" encoding="utf-8"?>
<p:tagLst xmlns:p="http://schemas.openxmlformats.org/presentationml/2006/main">
  <p:tag name="KSO_WM_DIAGRAM_VIRTUALLY_FRAME" val="{&quot;height&quot;:341,&quot;left&quot;:390,&quot;top&quot;:102,&quot;width&quot;:521}"/>
</p:tagLst>
</file>

<file path=ppt/tags/tag49.xml><?xml version="1.0" encoding="utf-8"?>
<p:tagLst xmlns:p="http://schemas.openxmlformats.org/presentationml/2006/main">
  <p:tag name="KSO_WM_DIAGRAM_VIRTUALLY_FRAME" val="{&quot;height&quot;:357,&quot;left&quot;:65,&quot;top&quot;:72,&quot;width&quot;:821}"/>
</p:tagLst>
</file>

<file path=ppt/tags/tag50.xml><?xml version="1.0" encoding="utf-8"?>
<p:tagLst xmlns:p="http://schemas.openxmlformats.org/presentationml/2006/main">
  <p:tag name="KSO_WM_DIAGRAM_VIRTUALLY_FRAME" val="{&quot;height&quot;:357,&quot;left&quot;:65,&quot;top&quot;:72,&quot;width&quot;:821}"/>
</p:tagLst>
</file>

<file path=ppt/tags/tag51.xml><?xml version="1.0" encoding="utf-8"?>
<p:tagLst xmlns:p="http://schemas.openxmlformats.org/presentationml/2006/main">
  <p:tag name="KSO_WM_DIAGRAM_VIRTUALLY_FRAME" val="{&quot;height&quot;:357,&quot;left&quot;:65,&quot;top&quot;:72,&quot;width&quot;:821}"/>
</p:tagLst>
</file>

<file path=ppt/tags/tag52.xml><?xml version="1.0" encoding="utf-8"?>
<p:tagLst xmlns:p="http://schemas.openxmlformats.org/presentationml/2006/main">
  <p:tag name="KSO_WM_DIAGRAM_VIRTUALLY_FRAME" val="{&quot;height&quot;:357,&quot;left&quot;:65,&quot;top&quot;:72,&quot;width&quot;:821}"/>
</p:tagLst>
</file>

<file path=ppt/tags/tag53.xml><?xml version="1.0" encoding="utf-8"?>
<p:tagLst xmlns:p="http://schemas.openxmlformats.org/presentationml/2006/main">
  <p:tag name="KSO_WM_DIAGRAM_VIRTUALLY_FRAME" val="{&quot;height&quot;:357,&quot;left&quot;:65,&quot;top&quot;:72,&quot;width&quot;:821}"/>
</p:tagLst>
</file>

<file path=ppt/tags/tag54.xml><?xml version="1.0" encoding="utf-8"?>
<p:tagLst xmlns:p="http://schemas.openxmlformats.org/presentationml/2006/main">
  <p:tag name="KSO_WM_DIAGRAM_VIRTUALLY_FRAME" val="{&quot;height&quot;:357,&quot;left&quot;:65,&quot;top&quot;:72,&quot;width&quot;:821}"/>
</p:tagLst>
</file>

<file path=ppt/tags/tag55.xml><?xml version="1.0" encoding="utf-8"?>
<p:tagLst xmlns:p="http://schemas.openxmlformats.org/presentationml/2006/main">
  <p:tag name="KSO_WM_DIAGRAM_VIRTUALLY_FRAME" val="{&quot;height&quot;:357,&quot;left&quot;:65,&quot;top&quot;:72,&quot;width&quot;:821}"/>
</p:tagLst>
</file>

<file path=ppt/tags/tag56.xml><?xml version="1.0" encoding="utf-8"?>
<p:tagLst xmlns:p="http://schemas.openxmlformats.org/presentationml/2006/main">
  <p:tag name="KSO_WM_DIAGRAM_VIRTUALLY_FRAME" val="{&quot;height&quot;:357,&quot;left&quot;:65,&quot;top&quot;:72,&quot;width&quot;:821}"/>
</p:tagLst>
</file>

<file path=ppt/tags/tag57.xml><?xml version="1.0" encoding="utf-8"?>
<p:tagLst xmlns:p="http://schemas.openxmlformats.org/presentationml/2006/main">
  <p:tag name="KSO_WM_DIAGRAM_VIRTUALLY_FRAME" val="{&quot;height&quot;:402.5,&quot;left&quot;:44.5,&quot;top&quot;:26.5,&quot;width&quot;:840.9}"/>
</p:tagLst>
</file>

<file path=ppt/tags/tag58.xml><?xml version="1.0" encoding="utf-8"?>
<p:tagLst xmlns:p="http://schemas.openxmlformats.org/presentationml/2006/main">
  <p:tag name="KSO_WM_DIAGRAM_VIRTUALLY_FRAME" val="{&quot;height&quot;:402.5,&quot;left&quot;:44.5,&quot;top&quot;:26.5,&quot;width&quot;:840.9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3257</Words>
  <Application>WPS Presentation</Application>
  <PresentationFormat/>
  <Paragraphs>279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宋体</vt:lpstr>
      <vt:lpstr>Wingdings</vt:lpstr>
      <vt:lpstr>Arial</vt:lpstr>
      <vt:lpstr>Noto Sans SC</vt:lpstr>
      <vt:lpstr>Noto Sans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18136</cp:lastModifiedBy>
  <cp:revision>7</cp:revision>
  <dcterms:created xsi:type="dcterms:W3CDTF">2026-07-16T01:12:00Z</dcterms:created>
  <dcterms:modified xsi:type="dcterms:W3CDTF">2026-07-16T02:51:28Z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{"Label":"1","ContentProducer":"001191110102MACQD9K64010000","ProduceID":"7662917960335936723","ReservedCode1":"","ContentPropagator":"","PropagateID":"","ReservedCode2":""}</vt:lpwstr>
  </property>
  <property fmtid="{D5CDD505-2E9C-101B-9397-08002B2CF9AE}" pid="3" name="ICV">
    <vt:lpwstr>EE096CFCCD6746C8868B301772F38934_13</vt:lpwstr>
  </property>
  <property fmtid="{D5CDD505-2E9C-101B-9397-08002B2CF9AE}" pid="4" name="KSOProductBuildVer">
    <vt:lpwstr>1033-12.2.0.23196</vt:lpwstr>
  </property>
</Properties>
</file>